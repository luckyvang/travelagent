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intro. This is a capstone project built across the Agentic AI course: a travel planning agent that researches real data and proposes an itinerary. Set expectations: it plans, it never books. 10-minute walkthrough of the problem, how it thinks, how it's kept safe, and what's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point before the solution. Emphasize the cross-checking problem specifically -- flights, hotels, weather, and activities all have to line up, and that's the tedious part a human does by hand today. The target user is a normal traveler, not a travel agent.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constraints are the ones to remember for the rest of the talk. Free tier only, because the goal was a project anyone can run without a company card. No booking, ever -- that's a safety boundary, covered more in the guardrails slide. Confirm-before-save previews the itinerary workflow shown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loop, handled by Gemini's automatic function calling. The interesting part is the classification step: the model itself decides whether a request is specific -- like 'restaurants near the Space Needle' -- or exploratory -- like 'surprise me' -- and that decision changes the search radius and how aggressively results get reranked.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lite Tree-of-Thought layer -- one branching layer over candidate destinations, not the full multi-day/activity tree from the original design. The key discipline: every candidate has to be backed by an actual tool call before it can be kept or pruned, so the model can't just reason about a city from memory and call it done.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a presession form seeds context, the agent reasons and calls tools, every draft reply passes a critic before the user sees it. Then name the seven tools quickly -- these map directly to function names in the codebase, agent.py and the tools package. Flag up front that this is one agent by choice, not because three wasn't designed -- that's coming 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load-bearing guardrails. Emphasize the first one: the no-booking rule is architectural, not just a system prompt instruction -- there is no tool in the codebase capable of purchasing anything, so there's no path for the model to take that action even if it tried. The critic pass and coordinate validation were both added after catching real bugs during testing, which is worth mentioning if there's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here rather than overselling: four metrics get a real automated check every run, and the remaining three are explicitly documented as unaddressed rather than faked with a heuristic. Then make it concrete -- these three bugs were genuinely caught during development, not hypothetical examples, which is why the safety layer exists the way it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as the honesty slide: checkpoints one through six designed an ambitious system, and this row-by-row comparison shows exactly where the built version matches that design and where it was deliberately scoped down for a free, bare-minimum first version. Tavily is the one row that made it 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naming the top three next steps in priority order -- flights/hotels API first, since it unblocks the most, then the agent split, then deeper Tree-of-Thought. Add the GitHub link before presenting.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96596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CAPSTONE · FINAL PRESENTATION</a:t>
            </a:r>
          </a:p>
        </p:txBody>
      </p:sp>
      <p:sp>
        <p:nvSpPr>
          <p:cNvPr id="4" name="TextBox 3"/>
          <p:cNvSpPr txBox="1"/>
          <p:nvPr/>
        </p:nvSpPr>
        <p:spPr>
          <a:xfrm>
            <a:off x="685800" y="2331720"/>
            <a:ext cx="10515600" cy="1463040"/>
          </a:xfrm>
          <a:prstGeom prst="rect">
            <a:avLst/>
          </a:prstGeom>
          <a:noFill/>
        </p:spPr>
        <p:txBody>
          <a:bodyPr wrap="square" anchor="t" lIns="0" rIns="0" tIns="0" bIns="0">
            <a:spAutoFit/>
          </a:bodyPr>
          <a:lstStyle/>
          <a:p>
            <a:r>
              <a:rPr sz="4600" b="1">
                <a:solidFill>
                  <a:srgbClr val="12181F"/>
                </a:solidFill>
                <a:latin typeface="IBM Plex Sans"/>
              </a:rPr>
              <a:t>Travel Planning Agent</a:t>
            </a:r>
          </a:p>
        </p:txBody>
      </p:sp>
      <p:sp>
        <p:nvSpPr>
          <p:cNvPr id="5" name="TextBox 4"/>
          <p:cNvSpPr txBox="1"/>
          <p:nvPr/>
        </p:nvSpPr>
        <p:spPr>
          <a:xfrm>
            <a:off x="685800" y="3429000"/>
            <a:ext cx="9601200" cy="914400"/>
          </a:xfrm>
          <a:prstGeom prst="rect">
            <a:avLst/>
          </a:prstGeom>
          <a:noFill/>
        </p:spPr>
        <p:txBody>
          <a:bodyPr wrap="square" anchor="t" lIns="0" rIns="0" tIns="0" bIns="0">
            <a:spAutoFit/>
          </a:bodyPr>
          <a:lstStyle/>
          <a:p>
            <a:r>
              <a:rPr sz="1700" b="0">
                <a:solidFill>
                  <a:srgbClr val="4A5668"/>
                </a:solidFill>
                <a:latin typeface="IBM Plex Sans"/>
              </a:rPr>
              <a:t>A single AI agent that researches real attractions, restaurants, and weather —
and turns them into a grounded itinerary, using free APIs only.</a:t>
            </a:r>
          </a:p>
        </p:txBody>
      </p:sp>
      <p:sp>
        <p:nvSpPr>
          <p:cNvPr id="6" name="Oval 5"/>
          <p:cNvSpPr/>
          <p:nvPr/>
        </p:nvSpPr>
        <p:spPr>
          <a:xfrm>
            <a:off x="672084" y="4393692"/>
            <a:ext cx="82296" cy="82296"/>
          </a:xfrm>
          <a:prstGeom prst="ellipse">
            <a:avLst/>
          </a:prstGeom>
          <a:solidFill>
            <a:srgbClr val="1D56A0"/>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713232" y="4434840"/>
            <a:ext cx="1280160" cy="0"/>
          </a:xfrm>
          <a:prstGeom prst="line">
            <a:avLst/>
          </a:prstGeom>
          <a:ln w="17780">
            <a:solidFill>
              <a:srgbClr val="1D56A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952244" y="4393692"/>
            <a:ext cx="82296" cy="82296"/>
          </a:xfrm>
          <a:prstGeom prst="ellipse">
            <a:avLst/>
          </a:prstGeom>
          <a:solidFill>
            <a:srgbClr val="1D56A0"/>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993392" y="4434840"/>
            <a:ext cx="1280160" cy="0"/>
          </a:xfrm>
          <a:prstGeom prst="line">
            <a:avLst/>
          </a:prstGeom>
          <a:ln w="17780">
            <a:solidFill>
              <a:srgbClr val="1D56A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232404" y="4393692"/>
            <a:ext cx="82296" cy="82296"/>
          </a:xfrm>
          <a:prstGeom prst="ellipse">
            <a:avLst/>
          </a:prstGeom>
          <a:solidFill>
            <a:srgbClr val="1D56A0"/>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3273552" y="4434840"/>
            <a:ext cx="1280160" cy="0"/>
          </a:xfrm>
          <a:prstGeom prst="line">
            <a:avLst/>
          </a:prstGeom>
          <a:ln w="17780">
            <a:solidFill>
              <a:srgbClr val="CBD4DC"/>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512564" y="4393692"/>
            <a:ext cx="82296" cy="82296"/>
          </a:xfrm>
          <a:prstGeom prst="ellipse">
            <a:avLst/>
          </a:prstGeom>
          <a:solidFill>
            <a:srgbClr val="FFFFFF"/>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709160"/>
            <a:ext cx="5486400" cy="320040"/>
          </a:xfrm>
          <a:prstGeom prst="rect">
            <a:avLst/>
          </a:prstGeom>
          <a:noFill/>
        </p:spPr>
        <p:txBody>
          <a:bodyPr wrap="square" anchor="t" lIns="0" rIns="0" tIns="0" bIns="0">
            <a:spAutoFit/>
          </a:bodyPr>
          <a:lstStyle/>
          <a:p>
            <a:r>
              <a:rPr sz="1050" b="0" spc="50">
                <a:solidFill>
                  <a:srgbClr val="8592A0"/>
                </a:solidFill>
                <a:latin typeface="IBM Plex Mono"/>
              </a:rPr>
              <a:t>47.6062°N, 122.3321°W — SEATTLE, TEST ORIGIN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01 · THE PROBLEM</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3200" b="1">
                <a:solidFill>
                  <a:srgbClr val="12181F"/>
                </a:solidFill>
                <a:latin typeface="IBM Plex Sans"/>
              </a:rPr>
              <a:t>Planning a trip means hours of scattered research</a:t>
            </a:r>
          </a:p>
        </p:txBody>
      </p:sp>
      <p:sp>
        <p:nvSpPr>
          <p:cNvPr id="5" name="TextBox 4"/>
          <p:cNvSpPr txBox="1"/>
          <p:nvPr/>
        </p:nvSpPr>
        <p:spPr>
          <a:xfrm>
            <a:off x="685800" y="1600200"/>
            <a:ext cx="8686800" cy="914400"/>
          </a:xfrm>
          <a:prstGeom prst="rect">
            <a:avLst/>
          </a:prstGeom>
          <a:noFill/>
        </p:spPr>
        <p:txBody>
          <a:bodyPr wrap="square" anchor="t" lIns="0" rIns="0" tIns="0" bIns="0">
            <a:spAutoFit/>
          </a:bodyPr>
          <a:lstStyle/>
          <a:p>
            <a:r>
              <a:rPr sz="1500" b="0">
                <a:solidFill>
                  <a:srgbClr val="4A5668"/>
                </a:solidFill>
                <a:latin typeface="IBM Plex Sans"/>
              </a:rPr>
              <a:t>Flight sites, hotel listings, review blogs, and weather forecasts — then manually checking that the timing, location, and budget of every piece actually fit together.</a:t>
            </a:r>
          </a:p>
        </p:txBody>
      </p:sp>
      <p:sp>
        <p:nvSpPr>
          <p:cNvPr id="6" name="TextBox 5"/>
          <p:cNvSpPr txBox="1"/>
          <p:nvPr/>
        </p:nvSpPr>
        <p:spPr>
          <a:xfrm>
            <a:off x="685800" y="2514600"/>
            <a:ext cx="10241280" cy="3200400"/>
          </a:xfrm>
          <a:prstGeom prst="rect">
            <a:avLst/>
          </a:prstGeom>
          <a:noFill/>
        </p:spPr>
        <p:txBody>
          <a:bodyPr wrap="square" anchor="t" lIns="0" rIns="0" tIns="0" bIns="0">
            <a:spAutoFit/>
          </a:bodyPr>
          <a:lstStyle/>
          <a:p>
            <a:pPr>
              <a:spcAft>
                <a:spcPts val="1512"/>
              </a:spcAft>
            </a:pPr>
            <a:r>
              <a:rPr sz="1300" b="0">
                <a:solidFill>
                  <a:srgbClr val="1D56A0"/>
                </a:solidFill>
                <a:latin typeface="IBM Plex Sans"/>
              </a:rPr>
              <a:t>●  </a:t>
            </a:r>
            <a:r>
              <a:rPr sz="1500" b="1">
                <a:solidFill>
                  <a:srgbClr val="12181F"/>
                </a:solidFill>
                <a:latin typeface="IBM Plex Sans"/>
              </a:rPr>
              <a:t>Fragmented sources. </a:t>
            </a:r>
            <a:r>
              <a:rPr sz="1500" b="0">
                <a:solidFill>
                  <a:srgbClr val="4A5668"/>
                </a:solidFill>
                <a:latin typeface="IBM Plex Sans"/>
              </a:rPr>
              <a:t>No single place holds flights, stays, sights, food, and weather together.</a:t>
            </a:r>
          </a:p>
          <a:p>
            <a:pPr>
              <a:spcAft>
                <a:spcPts val="1512"/>
              </a:spcAft>
            </a:pPr>
            <a:r>
              <a:rPr sz="1300" b="0">
                <a:solidFill>
                  <a:srgbClr val="1D56A0"/>
                </a:solidFill>
                <a:latin typeface="IBM Plex Sans"/>
              </a:rPr>
              <a:t>●  </a:t>
            </a:r>
            <a:r>
              <a:rPr sz="1500" b="1">
                <a:solidFill>
                  <a:srgbClr val="12181F"/>
                </a:solidFill>
                <a:latin typeface="IBM Plex Sans"/>
              </a:rPr>
              <a:t>Manual cross-checking. </a:t>
            </a:r>
            <a:r>
              <a:rPr sz="1500" b="0">
                <a:solidFill>
                  <a:srgbClr val="4A5668"/>
                </a:solidFill>
                <a:latin typeface="IBM Plex Sans"/>
              </a:rPr>
              <a:t>Does this hotel's dates match the flight? Is it raining on the day you planned to hike?</a:t>
            </a:r>
          </a:p>
          <a:p>
            <a:pPr>
              <a:spcAft>
                <a:spcPts val="1512"/>
              </a:spcAft>
            </a:pPr>
            <a:r>
              <a:rPr sz="1300" b="0">
                <a:solidFill>
                  <a:srgbClr val="1D56A0"/>
                </a:solidFill>
                <a:latin typeface="IBM Plex Sans"/>
              </a:rPr>
              <a:t>●  </a:t>
            </a:r>
            <a:r>
              <a:rPr sz="1500" b="1">
                <a:solidFill>
                  <a:srgbClr val="12181F"/>
                </a:solidFill>
                <a:latin typeface="IBM Plex Sans"/>
              </a:rPr>
              <a:t>Diminishing returns. </a:t>
            </a:r>
            <a:r>
              <a:rPr sz="1500" b="0">
                <a:solidFill>
                  <a:srgbClr val="4A5668"/>
                </a:solidFill>
                <a:latin typeface="IBM Plex Sans"/>
              </a:rPr>
              <a:t>More research doesn't guarantee the best option was found — just more open tabs.</a:t>
            </a:r>
          </a:p>
        </p:txBody>
      </p:sp>
      <p:sp>
        <p:nvSpPr>
          <p:cNvPr id="7" name="TextBox 6"/>
          <p:cNvSpPr txBox="1"/>
          <p:nvPr/>
        </p:nvSpPr>
        <p:spPr>
          <a:xfrm>
            <a:off x="685800" y="5257800"/>
            <a:ext cx="9601200" cy="731520"/>
          </a:xfrm>
          <a:prstGeom prst="rect">
            <a:avLst/>
          </a:prstGeom>
          <a:noFill/>
        </p:spPr>
        <p:txBody>
          <a:bodyPr wrap="square" anchor="t" lIns="0" rIns="0" tIns="0" bIns="0">
            <a:spAutoFit/>
          </a:bodyPr>
          <a:lstStyle/>
          <a:p>
            <a:r>
              <a:rPr sz="1500" b="1">
                <a:solidFill>
                  <a:srgbClr val="12181F"/>
                </a:solidFill>
                <a:latin typeface="IBM Plex Sans"/>
              </a:rPr>
              <a:t>Who it's for:  </a:t>
            </a:r>
            <a:r>
              <a:rPr sz="1500" b="0">
                <a:solidFill>
                  <a:srgbClr val="4A5668"/>
                </a:solidFill>
                <a:latin typeface="IBM Plex Sans"/>
              </a:rPr>
              <a:t>travelers who want a researched itinerary without doing all the research themselves.</a:t>
            </a:r>
          </a:p>
        </p:txBody>
      </p:sp>
      <p:sp>
        <p:nvSpPr>
          <p:cNvPr id="8" name="TextBox 7"/>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02 · SCOPE &amp; CONSTRAINTS</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3200" b="1">
                <a:solidFill>
                  <a:srgbClr val="12181F"/>
                </a:solidFill>
                <a:latin typeface="IBM Plex Sans"/>
              </a:rPr>
              <a:t>Bare-minimum, free-tier, search-only</a:t>
            </a:r>
          </a:p>
        </p:txBody>
      </p:sp>
      <p:sp>
        <p:nvSpPr>
          <p:cNvPr id="5" name="TextBox 4"/>
          <p:cNvSpPr txBox="1"/>
          <p:nvPr/>
        </p:nvSpPr>
        <p:spPr>
          <a:xfrm>
            <a:off x="685800" y="1554480"/>
            <a:ext cx="8686800" cy="914400"/>
          </a:xfrm>
          <a:prstGeom prst="rect">
            <a:avLst/>
          </a:prstGeom>
          <a:noFill/>
        </p:spPr>
        <p:txBody>
          <a:bodyPr wrap="square" anchor="t" lIns="0" rIns="0" tIns="0" bIns="0">
            <a:spAutoFit/>
          </a:bodyPr>
          <a:lstStyle/>
          <a:p>
            <a:r>
              <a:rPr sz="1500" b="0">
                <a:solidFill>
                  <a:srgbClr val="4A5668"/>
                </a:solidFill>
                <a:latin typeface="IBM Plex Sans"/>
              </a:rPr>
              <a:t>Three constraints shaped every decision in this build.</a:t>
            </a:r>
          </a:p>
        </p:txBody>
      </p:sp>
      <p:sp>
        <p:nvSpPr>
          <p:cNvPr id="6" name="Rounded Rectangle 5"/>
          <p:cNvSpPr/>
          <p:nvPr/>
        </p:nvSpPr>
        <p:spPr>
          <a:xfrm>
            <a:off x="685800" y="2286000"/>
            <a:ext cx="3337560" cy="1828800"/>
          </a:xfrm>
          <a:prstGeom prst="roundRect">
            <a:avLst>
              <a:gd name="adj" fmla="val 6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r>
              <a:rPr sz="1500" b="1">
                <a:solidFill>
                  <a:srgbClr val="12181F"/>
                </a:solidFill>
                <a:latin typeface="IBM Plex Sans"/>
              </a:rPr>
              <a:t>Free APIs only</a:t>
            </a:r>
          </a:p>
          <a:p>
            <a:pPr>
              <a:spcBef>
                <a:spcPts val="600"/>
              </a:spcBef>
            </a:pPr>
            <a:r>
              <a:rPr sz="1250" b="0">
                <a:solidFill>
                  <a:srgbClr val="4A5668"/>
                </a:solidFill>
                <a:latin typeface="IBM Plex Sans"/>
              </a:rPr>
              <a:t>Open-Meteo (weather + geocoding, no key), OpenTripMap (attractions + restaurants), Tavily (web search).</a:t>
            </a:r>
          </a:p>
        </p:txBody>
      </p:sp>
      <p:sp>
        <p:nvSpPr>
          <p:cNvPr id="7" name="Rounded Rectangle 6"/>
          <p:cNvSpPr/>
          <p:nvPr/>
        </p:nvSpPr>
        <p:spPr>
          <a:xfrm>
            <a:off x="4251960" y="2286000"/>
            <a:ext cx="3337560" cy="1828800"/>
          </a:xfrm>
          <a:prstGeom prst="roundRect">
            <a:avLst>
              <a:gd name="adj" fmla="val 6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r>
              <a:rPr sz="1500" b="1">
                <a:solidFill>
                  <a:srgbClr val="12181F"/>
                </a:solidFill>
                <a:latin typeface="IBM Plex Sans"/>
              </a:rPr>
              <a:t>Never books</a:t>
            </a:r>
          </a:p>
          <a:p>
            <a:pPr>
              <a:spcBef>
                <a:spcPts val="600"/>
              </a:spcBef>
            </a:pPr>
            <a:r>
              <a:rPr sz="1250" b="0">
                <a:solidFill>
                  <a:srgbClr val="4A5668"/>
                </a:solidFill>
                <a:latin typeface="IBM Plex Sans"/>
              </a:rPr>
              <a:t>No purchase-capable tool exists anywhere in the codebase — an architectural fact, not a prompt promise.</a:t>
            </a:r>
          </a:p>
        </p:txBody>
      </p:sp>
      <p:sp>
        <p:nvSpPr>
          <p:cNvPr id="8" name="Rounded Rectangle 7"/>
          <p:cNvSpPr/>
          <p:nvPr/>
        </p:nvSpPr>
        <p:spPr>
          <a:xfrm>
            <a:off x="7818120" y="2286000"/>
            <a:ext cx="3337560" cy="1828800"/>
          </a:xfrm>
          <a:prstGeom prst="roundRect">
            <a:avLst>
              <a:gd name="adj" fmla="val 6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r>
              <a:rPr sz="1500" b="1">
                <a:solidFill>
                  <a:srgbClr val="12181F"/>
                </a:solidFill>
                <a:latin typeface="IBM Plex Sans"/>
              </a:rPr>
              <a:t>Confirm before save</a:t>
            </a:r>
          </a:p>
          <a:p>
            <a:pPr>
              <a:spcBef>
                <a:spcPts val="600"/>
              </a:spcBef>
            </a:pPr>
            <a:r>
              <a:rPr sz="1250" b="0">
                <a:solidFill>
                  <a:srgbClr val="4A5668"/>
                </a:solidFill>
                <a:latin typeface="IBM Plex Sans"/>
              </a:rPr>
              <a:t>An itinerary is only written to disk after the user has seen it in full and explicitly confirmed.</a:t>
            </a:r>
          </a:p>
        </p:txBody>
      </p:sp>
      <p:sp>
        <p:nvSpPr>
          <p:cNvPr id="9" name="TextBox 8"/>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03 · HOW IT THINKS</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3200" b="1">
                <a:solidFill>
                  <a:srgbClr val="12181F"/>
                </a:solidFill>
                <a:latin typeface="IBM Plex Sans"/>
              </a:rPr>
              <a:t>Reason → act → observe, adaptively</a:t>
            </a:r>
          </a:p>
        </p:txBody>
      </p:sp>
      <p:sp>
        <p:nvSpPr>
          <p:cNvPr id="5" name="TextBox 4"/>
          <p:cNvSpPr txBox="1"/>
          <p:nvPr/>
        </p:nvSpPr>
        <p:spPr>
          <a:xfrm>
            <a:off x="685800" y="1600200"/>
            <a:ext cx="8686800" cy="914400"/>
          </a:xfrm>
          <a:prstGeom prst="rect">
            <a:avLst/>
          </a:prstGeom>
          <a:noFill/>
        </p:spPr>
        <p:txBody>
          <a:bodyPr wrap="square" anchor="t" lIns="0" rIns="0" tIns="0" bIns="0">
            <a:spAutoFit/>
          </a:bodyPr>
          <a:lstStyle/>
          <a:p>
            <a:r>
              <a:rPr sz="1500" b="0">
                <a:solidFill>
                  <a:srgbClr val="4A5668"/>
                </a:solidFill>
                <a:latin typeface="IBM Plex Sans"/>
              </a:rPr>
              <a:t>Every turn runs a ReAct loop. The agent also classifies each request as it goes, so the search itself changes shape.</a:t>
            </a:r>
          </a:p>
        </p:txBody>
      </p:sp>
      <p:sp>
        <p:nvSpPr>
          <p:cNvPr id="6" name="Rounded Rectangle 5"/>
          <p:cNvSpPr/>
          <p:nvPr/>
        </p:nvSpPr>
        <p:spPr>
          <a:xfrm>
            <a:off x="822960" y="2606040"/>
            <a:ext cx="2194560" cy="822960"/>
          </a:xfrm>
          <a:prstGeom prst="roundRect">
            <a:avLst>
              <a:gd name="adj" fmla="val 18000"/>
            </a:avLst>
          </a:prstGeom>
          <a:solidFill>
            <a:srgbClr val="FFFFFF"/>
          </a:solidFill>
          <a:ln w="1270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2181F"/>
                </a:solidFill>
                <a:latin typeface="IBM Plex Sans"/>
              </a:rPr>
              <a:t>Reason</a:t>
            </a:r>
          </a:p>
        </p:txBody>
      </p:sp>
      <p:sp>
        <p:nvSpPr>
          <p:cNvPr id="7" name="Rounded Rectangle 6"/>
          <p:cNvSpPr/>
          <p:nvPr/>
        </p:nvSpPr>
        <p:spPr>
          <a:xfrm>
            <a:off x="4983480" y="2606040"/>
            <a:ext cx="2194560" cy="822960"/>
          </a:xfrm>
          <a:prstGeom prst="roundRect">
            <a:avLst>
              <a:gd name="adj" fmla="val 18000"/>
            </a:avLst>
          </a:prstGeom>
          <a:solidFill>
            <a:srgbClr val="FFFFFF"/>
          </a:solidFill>
          <a:ln w="1270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2181F"/>
                </a:solidFill>
                <a:latin typeface="IBM Plex Sans"/>
              </a:rPr>
              <a:t>Act</a:t>
            </a:r>
          </a:p>
          <a:p>
            <a:pPr algn="ctr"/>
            <a:r>
              <a:rPr sz="1100" b="0">
                <a:solidFill>
                  <a:srgbClr val="8592A0"/>
                </a:solidFill>
                <a:latin typeface="IBM Plex Mono"/>
              </a:rPr>
              <a:t>tool call</a:t>
            </a:r>
          </a:p>
        </p:txBody>
      </p:sp>
      <p:sp>
        <p:nvSpPr>
          <p:cNvPr id="8" name="Rounded Rectangle 7"/>
          <p:cNvSpPr/>
          <p:nvPr/>
        </p:nvSpPr>
        <p:spPr>
          <a:xfrm>
            <a:off x="9144000" y="2606040"/>
            <a:ext cx="2194560" cy="822960"/>
          </a:xfrm>
          <a:prstGeom prst="roundRect">
            <a:avLst>
              <a:gd name="adj" fmla="val 18000"/>
            </a:avLst>
          </a:prstGeom>
          <a:solidFill>
            <a:srgbClr val="FFFFFF"/>
          </a:solidFill>
          <a:ln w="1270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2181F"/>
                </a:solidFill>
                <a:latin typeface="IBM Plex Sans"/>
              </a:rPr>
              <a:t>Observe</a:t>
            </a:r>
          </a:p>
        </p:txBody>
      </p:sp>
      <p:cxnSp>
        <p:nvCxnSpPr>
          <p:cNvPr id="9" name="Connector 8"/>
          <p:cNvCxnSpPr/>
          <p:nvPr/>
        </p:nvCxnSpPr>
        <p:spPr>
          <a:xfrm>
            <a:off x="3017520" y="3017520.0"/>
            <a:ext cx="1965960" cy="0.0"/>
          </a:xfrm>
          <a:prstGeom prst="line">
            <a:avLst/>
          </a:prstGeom>
          <a:ln w="22860">
            <a:solidFill>
              <a:srgbClr val="1D56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178040" y="3017520.0"/>
            <a:ext cx="1965960" cy="0.0"/>
          </a:xfrm>
          <a:prstGeom prst="line">
            <a:avLst/>
          </a:prstGeom>
          <a:ln w="22860">
            <a:solidFill>
              <a:srgbClr val="1D56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41280.0" y="3429000"/>
            <a:ext cx="0.0" cy="502920"/>
          </a:xfrm>
          <a:prstGeom prst="line">
            <a:avLst/>
          </a:prstGeom>
          <a:ln w="22860">
            <a:solidFill>
              <a:srgbClr val="1D56A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920240.0" y="3931920"/>
            <a:ext cx="8321040.0" cy="0"/>
          </a:xfrm>
          <a:prstGeom prst="line">
            <a:avLst/>
          </a:prstGeom>
          <a:ln w="22860">
            <a:solidFill>
              <a:srgbClr val="1D56A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920240.0" y="3429000"/>
            <a:ext cx="0.0" cy="502920"/>
          </a:xfrm>
          <a:prstGeom prst="line">
            <a:avLst/>
          </a:prstGeom>
          <a:ln w="22860">
            <a:solidFill>
              <a:srgbClr val="1D5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4526280"/>
            <a:ext cx="10241280" cy="914400"/>
          </a:xfrm>
          <a:prstGeom prst="rect">
            <a:avLst/>
          </a:prstGeom>
          <a:noFill/>
        </p:spPr>
        <p:txBody>
          <a:bodyPr wrap="square" anchor="t" lIns="0" rIns="0" tIns="0" bIns="0">
            <a:spAutoFit/>
          </a:bodyPr>
          <a:lstStyle/>
          <a:p>
            <a:pPr algn="ctr"/>
            <a:r>
              <a:rPr sz="1300" b="0">
                <a:solidFill>
                  <a:srgbClr val="4A5668"/>
                </a:solidFill>
                <a:latin typeface="IBM Plex Sans"/>
              </a:rPr>
              <a:t>classifies request: </a:t>
            </a:r>
          </a:p>
          <a:p>
            <a:pPr algn="ctr"/>
            <a:r>
              <a:rPr sz="1250" b="0">
                <a:solidFill>
                  <a:srgbClr val="123B73"/>
                </a:solidFill>
                <a:latin typeface="IBM Plex Mono"/>
              </a:rPr>
              <a:t>result_mode = "specific" (tight radius)  or  "exploratory" (broad + reranked)</a:t>
            </a:r>
          </a:p>
        </p:txBody>
      </p:sp>
      <p:sp>
        <p:nvSpPr>
          <p:cNvPr id="15" name="TextBox 14"/>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04 · TREE-OF-THOUGHT (LITE)</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3200" b="1">
                <a:solidFill>
                  <a:srgbClr val="12181F"/>
                </a:solidFill>
                <a:latin typeface="IBM Plex Sans"/>
              </a:rPr>
              <a:t>Open-ended requests branch, get grounded, and get pruned</a:t>
            </a:r>
          </a:p>
        </p:txBody>
      </p:sp>
      <p:sp>
        <p:nvSpPr>
          <p:cNvPr id="5" name="TextBox 4"/>
          <p:cNvSpPr txBox="1"/>
          <p:nvPr/>
        </p:nvSpPr>
        <p:spPr>
          <a:xfrm>
            <a:off x="685800" y="1600200"/>
            <a:ext cx="8686800" cy="914400"/>
          </a:xfrm>
          <a:prstGeom prst="rect">
            <a:avLst/>
          </a:prstGeom>
          <a:noFill/>
        </p:spPr>
        <p:txBody>
          <a:bodyPr wrap="square" anchor="t" lIns="0" rIns="0" tIns="0" bIns="0">
            <a:spAutoFit/>
          </a:bodyPr>
          <a:lstStyle/>
          <a:p>
            <a:r>
              <a:rPr sz="1500" b="0">
                <a:solidFill>
                  <a:srgbClr val="4A5668"/>
                </a:solidFill>
                <a:latin typeface="IBM Plex Sans"/>
              </a:rPr>
              <a:t>For a vague ask like "surprise me," the agent proposes candidates, checks each against real weather &amp; attraction data, then drops what doesn't fit.</a:t>
            </a:r>
          </a:p>
        </p:txBody>
      </p:sp>
      <p:sp>
        <p:nvSpPr>
          <p:cNvPr id="6" name="Rounded Rectangle 5"/>
          <p:cNvSpPr/>
          <p:nvPr/>
        </p:nvSpPr>
        <p:spPr>
          <a:xfrm>
            <a:off x="4892040" y="2423160"/>
            <a:ext cx="2377440" cy="640080"/>
          </a:xfrm>
          <a:prstGeom prst="roundRect">
            <a:avLst>
              <a:gd name="adj" fmla="val 18000"/>
            </a:avLst>
          </a:prstGeom>
          <a:solidFill>
            <a:srgbClr val="DCE6F3"/>
          </a:solidFill>
          <a:ln w="1270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23B73"/>
                </a:solidFill>
                <a:latin typeface="IBM Plex Sans"/>
              </a:rPr>
              <a:t>Open-ended request</a:t>
            </a:r>
          </a:p>
        </p:txBody>
      </p:sp>
      <p:sp>
        <p:nvSpPr>
          <p:cNvPr id="7" name="Rounded Rectangle 6"/>
          <p:cNvSpPr/>
          <p:nvPr/>
        </p:nvSpPr>
        <p:spPr>
          <a:xfrm>
            <a:off x="777240" y="3794760"/>
            <a:ext cx="2834640" cy="868680"/>
          </a:xfrm>
          <a:prstGeom prst="roundRect">
            <a:avLst>
              <a:gd name="adj" fmla="val 12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12181F"/>
                </a:solidFill>
                <a:latin typeface="IBM Plex Mono"/>
              </a:rPr>
              <a:t>Candidate A</a:t>
            </a:r>
          </a:p>
          <a:p>
            <a:pPr algn="ctr"/>
            <a:r>
              <a:rPr sz="1150" b="0" strike="sngStrike">
                <a:solidFill>
                  <a:srgbClr val="8592A0"/>
                </a:solidFill>
                <a:latin typeface="IBM Plex Sans"/>
              </a:rPr>
              <a:t>bad weather — pruned</a:t>
            </a:r>
          </a:p>
        </p:txBody>
      </p:sp>
      <p:cxnSp>
        <p:nvCxnSpPr>
          <p:cNvPr id="8" name="Connector 7"/>
          <p:cNvCxnSpPr/>
          <p:nvPr/>
        </p:nvCxnSpPr>
        <p:spPr>
          <a:xfrm flipH="1">
            <a:off x="2194560.0" y="3063240"/>
            <a:ext cx="3886200.0" cy="731520"/>
          </a:xfrm>
          <a:prstGeom prst="line">
            <a:avLst/>
          </a:prstGeom>
          <a:ln w="17780">
            <a:solidFill>
              <a:srgbClr val="CBD4D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663440" y="3794760"/>
            <a:ext cx="2834640" cy="868680"/>
          </a:xfrm>
          <a:prstGeom prst="roundRect">
            <a:avLst>
              <a:gd name="adj" fmla="val 12000"/>
            </a:avLst>
          </a:prstGeom>
          <a:solidFill>
            <a:srgbClr val="E3F1EA"/>
          </a:solidFill>
          <a:ln w="12700">
            <a:solidFill>
              <a:srgbClr val="2F7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12181F"/>
                </a:solidFill>
                <a:latin typeface="IBM Plex Mono"/>
              </a:rPr>
              <a:t>Candidate B</a:t>
            </a:r>
          </a:p>
          <a:p>
            <a:pPr algn="ctr"/>
            <a:r>
              <a:rPr sz="1150" b="0">
                <a:solidFill>
                  <a:srgbClr val="2F7D5C"/>
                </a:solidFill>
                <a:latin typeface="IBM Plex Sans"/>
              </a:rPr>
              <a:t>fits — kept</a:t>
            </a:r>
          </a:p>
        </p:txBody>
      </p:sp>
      <p:cxnSp>
        <p:nvCxnSpPr>
          <p:cNvPr id="10" name="Connector 9"/>
          <p:cNvCxnSpPr/>
          <p:nvPr/>
        </p:nvCxnSpPr>
        <p:spPr>
          <a:xfrm>
            <a:off x="6080760.0" y="3063240"/>
            <a:ext cx="0.0" cy="731520"/>
          </a:xfrm>
          <a:prstGeom prst="line">
            <a:avLst/>
          </a:prstGeom>
          <a:ln w="17780">
            <a:solidFill>
              <a:srgbClr val="CBD4DC"/>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549640" y="3794760"/>
            <a:ext cx="2834640" cy="868680"/>
          </a:xfrm>
          <a:prstGeom prst="roundRect">
            <a:avLst>
              <a:gd name="adj" fmla="val 12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12181F"/>
                </a:solidFill>
                <a:latin typeface="IBM Plex Mono"/>
              </a:rPr>
              <a:t>Candidate C</a:t>
            </a:r>
          </a:p>
          <a:p>
            <a:pPr algn="ctr"/>
            <a:r>
              <a:rPr sz="1150" b="0" strike="sngStrike">
                <a:solidFill>
                  <a:srgbClr val="8592A0"/>
                </a:solidFill>
                <a:latin typeface="IBM Plex Sans"/>
              </a:rPr>
              <a:t>over budget — pruned</a:t>
            </a:r>
          </a:p>
        </p:txBody>
      </p:sp>
      <p:cxnSp>
        <p:nvCxnSpPr>
          <p:cNvPr id="12" name="Connector 11"/>
          <p:cNvCxnSpPr/>
          <p:nvPr/>
        </p:nvCxnSpPr>
        <p:spPr>
          <a:xfrm>
            <a:off x="6080760.0" y="3063240"/>
            <a:ext cx="3886200.0" cy="731520"/>
          </a:xfrm>
          <a:prstGeom prst="line">
            <a:avLst/>
          </a:prstGeom>
          <a:ln w="17780">
            <a:solidFill>
              <a:srgbClr val="CBD4D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5074920"/>
            <a:ext cx="10607040" cy="822960"/>
          </a:xfrm>
          <a:prstGeom prst="rect">
            <a:avLst/>
          </a:prstGeom>
          <a:noFill/>
        </p:spPr>
        <p:txBody>
          <a:bodyPr wrap="square" anchor="t" lIns="0" rIns="0" tIns="0" bIns="0">
            <a:spAutoFit/>
          </a:bodyPr>
          <a:lstStyle/>
          <a:p>
            <a:pPr algn="ctr"/>
            <a:r>
              <a:rPr sz="1250" b="0">
                <a:solidFill>
                  <a:srgbClr val="8592A0"/>
                </a:solidFill>
                <a:latin typeface="IBM Plex Sans"/>
              </a:rPr>
              <a:t>each branch is grounded in real geocode + weather + attraction calls —</a:t>
            </a:r>
          </a:p>
          <a:p>
            <a:pPr algn="ctr"/>
            <a:r>
              <a:rPr sz="1250" b="0">
                <a:solidFill>
                  <a:srgbClr val="8592A0"/>
                </a:solidFill>
                <a:latin typeface="IBM Plex Sans"/>
              </a:rPr>
              <a:t>never evaluated from general knowledge alone</a:t>
            </a:r>
          </a:p>
        </p:txBody>
      </p:sp>
      <p:sp>
        <p:nvSpPr>
          <p:cNvPr id="14" name="TextBox 13"/>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05 · ARCHITECTURE</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3200" b="1">
                <a:solidFill>
                  <a:srgbClr val="12181F"/>
                </a:solidFill>
                <a:latin typeface="IBM Plex Sans"/>
              </a:rPr>
              <a:t>One agent, seven tools, one fact-checker</a:t>
            </a:r>
          </a:p>
        </p:txBody>
      </p:sp>
      <p:sp>
        <p:nvSpPr>
          <p:cNvPr id="5" name="Rounded Rectangle 4"/>
          <p:cNvSpPr/>
          <p:nvPr/>
        </p:nvSpPr>
        <p:spPr>
          <a:xfrm>
            <a:off x="685800" y="1783080"/>
            <a:ext cx="1737360" cy="457200"/>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150" b="0">
                <a:solidFill>
                  <a:srgbClr val="123B73"/>
                </a:solidFill>
                <a:latin typeface="IBM Plex Mono"/>
              </a:rPr>
              <a:t>Presession form</a:t>
            </a:r>
          </a:p>
        </p:txBody>
      </p:sp>
      <p:sp>
        <p:nvSpPr>
          <p:cNvPr id="6" name="Rounded Rectangle 5"/>
          <p:cNvSpPr/>
          <p:nvPr/>
        </p:nvSpPr>
        <p:spPr>
          <a:xfrm>
            <a:off x="2743200" y="1783080"/>
            <a:ext cx="3017520" cy="457200"/>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150" b="0">
                <a:solidFill>
                  <a:srgbClr val="123B73"/>
                </a:solidFill>
                <a:latin typeface="IBM Plex Mono"/>
              </a:rPr>
              <a:t>Agent · gemini-flash-lite-latest</a:t>
            </a:r>
          </a:p>
        </p:txBody>
      </p:sp>
      <p:sp>
        <p:nvSpPr>
          <p:cNvPr id="7" name="Rounded Rectangle 6"/>
          <p:cNvSpPr/>
          <p:nvPr/>
        </p:nvSpPr>
        <p:spPr>
          <a:xfrm>
            <a:off x="6080760" y="1783080"/>
            <a:ext cx="1554480" cy="457200"/>
          </a:xfrm>
          <a:prstGeom prst="roundRect">
            <a:avLst>
              <a:gd name="adj" fmla="val 35000"/>
            </a:avLst>
          </a:prstGeom>
          <a:solidFill>
            <a:srgbClr val="E3F1EA"/>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150" b="0">
                <a:solidFill>
                  <a:srgbClr val="2F7D5C"/>
                </a:solidFill>
                <a:latin typeface="IBM Plex Mono"/>
              </a:rPr>
              <a:t>Critic pass</a:t>
            </a:r>
          </a:p>
        </p:txBody>
      </p:sp>
      <p:sp>
        <p:nvSpPr>
          <p:cNvPr id="8" name="Rounded Rectangle 7"/>
          <p:cNvSpPr/>
          <p:nvPr/>
        </p:nvSpPr>
        <p:spPr>
          <a:xfrm>
            <a:off x="7955280" y="1783080"/>
            <a:ext cx="1097280" cy="457200"/>
          </a:xfrm>
          <a:prstGeom prst="roundRect">
            <a:avLst>
              <a:gd name="adj" fmla="val 35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150" b="0">
                <a:solidFill>
                  <a:srgbClr val="12181F"/>
                </a:solidFill>
                <a:latin typeface="IBM Plex Mono"/>
              </a:rPr>
              <a:t>Reply</a:t>
            </a:r>
          </a:p>
        </p:txBody>
      </p:sp>
      <p:sp>
        <p:nvSpPr>
          <p:cNvPr id="9" name="TextBox 8"/>
          <p:cNvSpPr txBox="1"/>
          <p:nvPr/>
        </p:nvSpPr>
        <p:spPr>
          <a:xfrm>
            <a:off x="685800" y="2514600"/>
            <a:ext cx="5486400" cy="365760"/>
          </a:xfrm>
          <a:prstGeom prst="rect">
            <a:avLst/>
          </a:prstGeom>
          <a:noFill/>
        </p:spPr>
        <p:txBody>
          <a:bodyPr wrap="square" anchor="t" lIns="0" rIns="0" tIns="0" bIns="0">
            <a:spAutoFit/>
          </a:bodyPr>
          <a:lstStyle/>
          <a:p>
            <a:r>
              <a:rPr sz="1400" b="0">
                <a:solidFill>
                  <a:srgbClr val="4A5668"/>
                </a:solidFill>
                <a:latin typeface="IBM Plex Sans"/>
              </a:rPr>
              <a:t>Tools available to the agent:</a:t>
            </a:r>
          </a:p>
        </p:txBody>
      </p:sp>
      <p:sp>
        <p:nvSpPr>
          <p:cNvPr id="10" name="Rounded Rectangle 9"/>
          <p:cNvSpPr/>
          <p:nvPr/>
        </p:nvSpPr>
        <p:spPr>
          <a:xfrm>
            <a:off x="685800" y="3017520"/>
            <a:ext cx="1792224" cy="438912"/>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0">
                <a:solidFill>
                  <a:srgbClr val="123B73"/>
                </a:solidFill>
                <a:latin typeface="IBM Plex Mono"/>
              </a:rPr>
              <a:t>geocode_location</a:t>
            </a:r>
          </a:p>
        </p:txBody>
      </p:sp>
      <p:sp>
        <p:nvSpPr>
          <p:cNvPr id="11" name="Rounded Rectangle 10"/>
          <p:cNvSpPr/>
          <p:nvPr/>
        </p:nvSpPr>
        <p:spPr>
          <a:xfrm>
            <a:off x="2679192" y="3017520"/>
            <a:ext cx="1312164" cy="438912"/>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0">
                <a:solidFill>
                  <a:srgbClr val="123B73"/>
                </a:solidFill>
                <a:latin typeface="IBM Plex Mono"/>
              </a:rPr>
              <a:t>get_weather</a:t>
            </a:r>
          </a:p>
        </p:txBody>
      </p:sp>
      <p:sp>
        <p:nvSpPr>
          <p:cNvPr id="12" name="Rounded Rectangle 11"/>
          <p:cNvSpPr/>
          <p:nvPr/>
        </p:nvSpPr>
        <p:spPr>
          <a:xfrm>
            <a:off x="4192524" y="3017520"/>
            <a:ext cx="1984248" cy="438912"/>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0">
                <a:solidFill>
                  <a:srgbClr val="123B73"/>
                </a:solidFill>
                <a:latin typeface="IBM Plex Mono"/>
              </a:rPr>
              <a:t>search_attractions</a:t>
            </a:r>
          </a:p>
        </p:txBody>
      </p:sp>
      <p:sp>
        <p:nvSpPr>
          <p:cNvPr id="13" name="Rounded Rectangle 12"/>
          <p:cNvSpPr/>
          <p:nvPr/>
        </p:nvSpPr>
        <p:spPr>
          <a:xfrm>
            <a:off x="6377940" y="3017520"/>
            <a:ext cx="1984248" cy="438912"/>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0">
                <a:solidFill>
                  <a:srgbClr val="123B73"/>
                </a:solidFill>
                <a:latin typeface="IBM Plex Mono"/>
              </a:rPr>
              <a:t>search_restaurants</a:t>
            </a:r>
          </a:p>
        </p:txBody>
      </p:sp>
      <p:sp>
        <p:nvSpPr>
          <p:cNvPr id="14" name="Rounded Rectangle 13"/>
          <p:cNvSpPr/>
          <p:nvPr/>
        </p:nvSpPr>
        <p:spPr>
          <a:xfrm>
            <a:off x="8563356" y="3017520"/>
            <a:ext cx="1216152" cy="438912"/>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0">
                <a:solidFill>
                  <a:srgbClr val="123B73"/>
                </a:solidFill>
                <a:latin typeface="IBM Plex Mono"/>
              </a:rPr>
              <a:t>web_search</a:t>
            </a:r>
          </a:p>
        </p:txBody>
      </p:sp>
      <p:sp>
        <p:nvSpPr>
          <p:cNvPr id="15" name="Rounded Rectangle 14"/>
          <p:cNvSpPr/>
          <p:nvPr/>
        </p:nvSpPr>
        <p:spPr>
          <a:xfrm>
            <a:off x="685800" y="3584448"/>
            <a:ext cx="1600200" cy="438912"/>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0">
                <a:solidFill>
                  <a:srgbClr val="123B73"/>
                </a:solidFill>
                <a:latin typeface="IBM Plex Mono"/>
              </a:rPr>
              <a:t>save_itinerary</a:t>
            </a:r>
          </a:p>
        </p:txBody>
      </p:sp>
      <p:sp>
        <p:nvSpPr>
          <p:cNvPr id="16" name="Rounded Rectangle 15"/>
          <p:cNvSpPr/>
          <p:nvPr/>
        </p:nvSpPr>
        <p:spPr>
          <a:xfrm>
            <a:off x="2487168" y="3584448"/>
            <a:ext cx="2080260" cy="438912"/>
          </a:xfrm>
          <a:prstGeom prst="roundRect">
            <a:avLst>
              <a:gd name="adj" fmla="val 35000"/>
            </a:avLst>
          </a:prstGeom>
          <a:solidFill>
            <a:srgbClr val="DCE6F3"/>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a:lstStyle/>
          <a:p>
            <a:pPr algn="ctr"/>
            <a:r>
              <a:rPr sz="1200" b="0">
                <a:solidFill>
                  <a:srgbClr val="123B73"/>
                </a:solidFill>
                <a:latin typeface="IBM Plex Mono"/>
              </a:rPr>
              <a:t>remember_preference</a:t>
            </a:r>
          </a:p>
        </p:txBody>
      </p:sp>
      <p:sp>
        <p:nvSpPr>
          <p:cNvPr id="17" name="TextBox 16"/>
          <p:cNvSpPr txBox="1"/>
          <p:nvPr/>
        </p:nvSpPr>
        <p:spPr>
          <a:xfrm>
            <a:off x="685800" y="5166360"/>
            <a:ext cx="10058400" cy="914400"/>
          </a:xfrm>
          <a:prstGeom prst="rect">
            <a:avLst/>
          </a:prstGeom>
          <a:noFill/>
        </p:spPr>
        <p:txBody>
          <a:bodyPr wrap="square" anchor="t" lIns="0" rIns="0" tIns="0" bIns="0">
            <a:spAutoFit/>
          </a:bodyPr>
          <a:lstStyle/>
          <a:p>
            <a:r>
              <a:rPr sz="1500" b="1">
                <a:solidFill>
                  <a:srgbClr val="12181F"/>
                </a:solidFill>
                <a:latin typeface="IBM Plex Sans"/>
              </a:rPr>
              <a:t>Deliberately one agent for this version </a:t>
            </a:r>
            <a:r>
              <a:rPr sz="1500" b="0">
                <a:solidFill>
                  <a:srgbClr val="4A5668"/>
                </a:solidFill>
                <a:latin typeface="IBM Plex Sans"/>
              </a:rPr>
              <a:t>— not the three-agent split from the original design. More in the evolution slide.</a:t>
            </a:r>
          </a:p>
        </p:txBody>
      </p:sp>
      <p:sp>
        <p:nvSpPr>
          <p:cNvPr id="18" name="TextBox 17"/>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06 · SAFETY &amp; GUARDRAILS</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3200" b="1">
                <a:solidFill>
                  <a:srgbClr val="12181F"/>
                </a:solidFill>
                <a:latin typeface="IBM Plex Sans"/>
              </a:rPr>
              <a:t>Built to never overreach</a:t>
            </a:r>
          </a:p>
        </p:txBody>
      </p:sp>
      <p:sp>
        <p:nvSpPr>
          <p:cNvPr id="5" name="TextBox 4"/>
          <p:cNvSpPr txBox="1"/>
          <p:nvPr/>
        </p:nvSpPr>
        <p:spPr>
          <a:xfrm>
            <a:off x="685800" y="1828800"/>
            <a:ext cx="10241280" cy="3200400"/>
          </a:xfrm>
          <a:prstGeom prst="rect">
            <a:avLst/>
          </a:prstGeom>
          <a:noFill/>
        </p:spPr>
        <p:txBody>
          <a:bodyPr wrap="square" anchor="t" lIns="0" rIns="0" tIns="0" bIns="0">
            <a:spAutoFit/>
          </a:bodyPr>
          <a:lstStyle/>
          <a:p>
            <a:pPr>
              <a:spcAft>
                <a:spcPts val="1980"/>
              </a:spcAft>
            </a:pPr>
            <a:r>
              <a:rPr sz="1300" b="0">
                <a:solidFill>
                  <a:srgbClr val="1D56A0"/>
                </a:solidFill>
                <a:latin typeface="IBM Plex Sans"/>
              </a:rPr>
              <a:t>●  </a:t>
            </a:r>
            <a:r>
              <a:rPr sz="1600" b="1">
                <a:solidFill>
                  <a:srgbClr val="12181F"/>
                </a:solidFill>
                <a:latin typeface="IBM Plex Sans"/>
              </a:rPr>
              <a:t>No booking tool exists. </a:t>
            </a:r>
            <a:r>
              <a:rPr sz="1600" b="0">
                <a:solidFill>
                  <a:srgbClr val="4A5668"/>
                </a:solidFill>
                <a:latin typeface="IBM Plex Sans"/>
              </a:rPr>
              <a:t>Not a rule the model follows — a capability that was never built.</a:t>
            </a:r>
          </a:p>
          <a:p>
            <a:pPr>
              <a:spcAft>
                <a:spcPts val="1980"/>
              </a:spcAft>
            </a:pPr>
            <a:r>
              <a:rPr sz="1300" b="0">
                <a:solidFill>
                  <a:srgbClr val="1D56A0"/>
                </a:solidFill>
                <a:latin typeface="IBM Plex Sans"/>
              </a:rPr>
              <a:t>●  </a:t>
            </a:r>
            <a:r>
              <a:rPr sz="1600" b="1">
                <a:solidFill>
                  <a:srgbClr val="12181F"/>
                </a:solidFill>
                <a:latin typeface="IBM Plex Sans"/>
              </a:rPr>
              <a:t>Critic pass on every reply. </a:t>
            </a:r>
            <a:r>
              <a:rPr sz="1600" b="0">
                <a:solidFill>
                  <a:srgbClr val="4A5668"/>
                </a:solidFill>
                <a:latin typeface="IBM Plex Sans"/>
              </a:rPr>
              <a:t>A second, independent model call checks the draft against that turn's real tool results and flags fabricated names or booking claims.</a:t>
            </a:r>
          </a:p>
          <a:p>
            <a:pPr>
              <a:spcAft>
                <a:spcPts val="1980"/>
              </a:spcAft>
            </a:pPr>
            <a:r>
              <a:rPr sz="1300" b="0">
                <a:solidFill>
                  <a:srgbClr val="1D56A0"/>
                </a:solidFill>
                <a:latin typeface="IBM Plex Sans"/>
              </a:rPr>
              <a:t>●  </a:t>
            </a:r>
            <a:r>
              <a:rPr sz="1600" b="1">
                <a:solidFill>
                  <a:srgbClr val="12181F"/>
                </a:solidFill>
                <a:latin typeface="IBM Plex Sans"/>
              </a:rPr>
              <a:t>Coordinate validation. </a:t>
            </a:r>
            <a:r>
              <a:rPr sz="1600" b="0">
                <a:solidFill>
                  <a:srgbClr val="4A5668"/>
                </a:solidFill>
                <a:latin typeface="IBM Plex Sans"/>
              </a:rPr>
              <a:t>Rejects malformed or duplicated lat/lon before it ever reaches an API.</a:t>
            </a:r>
          </a:p>
          <a:p>
            <a:pPr>
              <a:spcAft>
                <a:spcPts val="1980"/>
              </a:spcAft>
            </a:pPr>
            <a:r>
              <a:rPr sz="1300" b="0">
                <a:solidFill>
                  <a:srgbClr val="1D56A0"/>
                </a:solidFill>
                <a:latin typeface="IBM Plex Sans"/>
              </a:rPr>
              <a:t>●  </a:t>
            </a:r>
            <a:r>
              <a:rPr sz="1600" b="1">
                <a:solidFill>
                  <a:srgbClr val="12181F"/>
                </a:solidFill>
                <a:latin typeface="IBM Plex Sans"/>
              </a:rPr>
              <a:t>Inferred autonomy level. </a:t>
            </a:r>
            <a:r>
              <a:rPr sz="1600" b="0">
                <a:solidFill>
                  <a:srgbClr val="4A5668"/>
                </a:solidFill>
                <a:latin typeface="IBM Plex Sans"/>
              </a:rPr>
              <a:t>A vague ask gets more latitude; a detailed one gets none of its specifics overridden.</a:t>
            </a:r>
          </a:p>
        </p:txBody>
      </p:sp>
      <p:sp>
        <p:nvSpPr>
          <p:cNvPr id="6" name="TextBox 5"/>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07 · EVALUATION</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2600" b="1">
                <a:solidFill>
                  <a:srgbClr val="12181F"/>
                </a:solidFill>
                <a:latin typeface="IBM Plex Sans"/>
              </a:rPr>
              <a:t>4 of 7 metrics automated — the rest, honestly, aren't</a:t>
            </a:r>
          </a:p>
        </p:txBody>
      </p:sp>
      <p:sp>
        <p:nvSpPr>
          <p:cNvPr id="5" name="Rounded Rectangle 4"/>
          <p:cNvSpPr/>
          <p:nvPr/>
        </p:nvSpPr>
        <p:spPr>
          <a:xfrm>
            <a:off x="685800" y="2148840"/>
            <a:ext cx="5074920" cy="1417320"/>
          </a:xfrm>
          <a:prstGeom prst="roundRect">
            <a:avLst>
              <a:gd name="adj" fmla="val 6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r>
              <a:rPr sz="1500" b="1">
                <a:solidFill>
                  <a:srgbClr val="2F7D5C"/>
                </a:solidFill>
                <a:latin typeface="IBM Plex Sans"/>
              </a:rPr>
              <a:t>Automated</a:t>
            </a:r>
          </a:p>
          <a:p>
            <a:pPr>
              <a:spcBef>
                <a:spcPts val="600"/>
              </a:spcBef>
            </a:pPr>
            <a:r>
              <a:rPr sz="1250" b="0">
                <a:solidFill>
                  <a:srgbClr val="4A5668"/>
                </a:solidFill>
                <a:latin typeface="IBM Plex Sans"/>
              </a:rPr>
              <a:t>Groundedness, safety, robustness, and efficiency — checked by eval/run_eval.py on every run.</a:t>
            </a:r>
          </a:p>
        </p:txBody>
      </p:sp>
      <p:sp>
        <p:nvSpPr>
          <p:cNvPr id="6" name="Rounded Rectangle 5"/>
          <p:cNvSpPr/>
          <p:nvPr/>
        </p:nvSpPr>
        <p:spPr>
          <a:xfrm>
            <a:off x="6035040" y="2148840"/>
            <a:ext cx="5074920" cy="1417320"/>
          </a:xfrm>
          <a:prstGeom prst="roundRect">
            <a:avLst>
              <a:gd name="adj" fmla="val 6000"/>
            </a:avLst>
          </a:prstGeom>
          <a:solidFill>
            <a:srgbClr val="FFFFFF"/>
          </a:solidFill>
          <a:ln w="12700">
            <a:solidFill>
              <a:srgbClr val="CBD4DC"/>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r>
              <a:rPr sz="1500" b="1">
                <a:solidFill>
                  <a:srgbClr val="8592A0"/>
                </a:solidFill>
                <a:latin typeface="IBM Plex Sans"/>
              </a:rPr>
              <a:t>Not automated</a:t>
            </a:r>
          </a:p>
          <a:p>
            <a:pPr>
              <a:spcBef>
                <a:spcPts val="600"/>
              </a:spcBef>
            </a:pPr>
            <a:r>
              <a:rPr sz="1250" b="0">
                <a:solidFill>
                  <a:srgbClr val="4A5668"/>
                </a:solidFill>
                <a:latin typeface="IBM Plex Sans"/>
              </a:rPr>
              <a:t>Bias, fairness, toxicity, calibration — need labeled datasets and human judgment a free script can't fake.</a:t>
            </a:r>
          </a:p>
        </p:txBody>
      </p:sp>
      <p:sp>
        <p:nvSpPr>
          <p:cNvPr id="7" name="TextBox 6"/>
          <p:cNvSpPr txBox="1"/>
          <p:nvPr/>
        </p:nvSpPr>
        <p:spPr>
          <a:xfrm>
            <a:off x="685800" y="3794760"/>
            <a:ext cx="7315200" cy="365760"/>
          </a:xfrm>
          <a:prstGeom prst="rect">
            <a:avLst/>
          </a:prstGeom>
          <a:noFill/>
        </p:spPr>
        <p:txBody>
          <a:bodyPr wrap="square" anchor="t" lIns="0" rIns="0" tIns="0" bIns="0">
            <a:spAutoFit/>
          </a:bodyPr>
          <a:lstStyle/>
          <a:p>
            <a:r>
              <a:rPr sz="1500" b="1">
                <a:solidFill>
                  <a:srgbClr val="12181F"/>
                </a:solidFill>
                <a:latin typeface="IBM Plex Sans"/>
              </a:rPr>
              <a:t>Real issues it caught:</a:t>
            </a:r>
          </a:p>
        </p:txBody>
      </p:sp>
      <p:sp>
        <p:nvSpPr>
          <p:cNvPr id="8" name="TextBox 7"/>
          <p:cNvSpPr txBox="1"/>
          <p:nvPr/>
        </p:nvSpPr>
        <p:spPr>
          <a:xfrm>
            <a:off x="685800" y="4206240"/>
            <a:ext cx="10241280" cy="3200400"/>
          </a:xfrm>
          <a:prstGeom prst="rect">
            <a:avLst/>
          </a:prstGeom>
          <a:noFill/>
        </p:spPr>
        <p:txBody>
          <a:bodyPr wrap="square" anchor="t" lIns="0" rIns="0" tIns="0" bIns="0">
            <a:spAutoFit/>
          </a:bodyPr>
          <a:lstStyle/>
          <a:p>
            <a:pPr>
              <a:spcAft>
                <a:spcPts val="1260"/>
              </a:spcAft>
            </a:pPr>
            <a:r>
              <a:rPr sz="1300" b="0">
                <a:solidFill>
                  <a:srgbClr val="1D56A0"/>
                </a:solidFill>
                <a:latin typeface="IBM Plex Sans"/>
              </a:rPr>
              <a:t>●  </a:t>
            </a:r>
            <a:r>
              <a:rPr sz="1400" b="0">
                <a:solidFill>
                  <a:srgbClr val="4A5668"/>
                </a:solidFill>
                <a:latin typeface="IBM Plex Sans"/>
              </a:rPr>
              <a:t>A fabricated restaurant name paired with a fake "I've booked your table" claim</a:t>
            </a:r>
          </a:p>
          <a:p>
            <a:pPr>
              <a:spcAft>
                <a:spcPts val="1260"/>
              </a:spcAft>
            </a:pPr>
            <a:r>
              <a:rPr sz="1300" b="0">
                <a:solidFill>
                  <a:srgbClr val="1D56A0"/>
                </a:solidFill>
                <a:latin typeface="IBM Plex Sans"/>
              </a:rPr>
              <a:t>●  </a:t>
            </a:r>
            <a:r>
              <a:rPr sz="1400" b="0">
                <a:solidFill>
                  <a:srgbClr val="4A5668"/>
                </a:solidFill>
                <a:latin typeface="IBM Plex Sans"/>
              </a:rPr>
              <a:t>A cross-branch hallucination — a coffee shop borrowed from a pruned candidate destination</a:t>
            </a:r>
          </a:p>
          <a:p>
            <a:pPr>
              <a:spcAft>
                <a:spcPts val="1260"/>
              </a:spcAft>
            </a:pPr>
            <a:r>
              <a:rPr sz="1300" b="0">
                <a:solidFill>
                  <a:srgbClr val="1D56A0"/>
                </a:solidFill>
                <a:latin typeface="IBM Plex Sans"/>
              </a:rPr>
              <a:t>●  </a:t>
            </a:r>
            <a:r>
              <a:rPr sz="1400" b="0">
                <a:solidFill>
                  <a:srgbClr val="4A5668"/>
                </a:solidFill>
                <a:latin typeface="IBM Plex Sans"/>
              </a:rPr>
              <a:t>A model reasoning slip that swapped latitude into the longitude argument</a:t>
            </a:r>
          </a:p>
        </p:txBody>
      </p:sp>
      <p:sp>
        <p:nvSpPr>
          <p:cNvPr id="9" name="TextBox 8"/>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08 · DESIGN EVOLUTION</a:t>
            </a:r>
          </a:p>
        </p:txBody>
      </p:sp>
      <p:sp>
        <p:nvSpPr>
          <p:cNvPr id="4" name="TextBox 3"/>
          <p:cNvSpPr txBox="1"/>
          <p:nvPr/>
        </p:nvSpPr>
        <p:spPr>
          <a:xfrm>
            <a:off x="685800" y="868680"/>
            <a:ext cx="10789920" cy="1188720"/>
          </a:xfrm>
          <a:prstGeom prst="rect">
            <a:avLst/>
          </a:prstGeom>
          <a:noFill/>
        </p:spPr>
        <p:txBody>
          <a:bodyPr wrap="square" anchor="t" lIns="0" rIns="0" tIns="0" bIns="0">
            <a:spAutoFit/>
          </a:bodyPr>
          <a:lstStyle/>
          <a:p>
            <a:r>
              <a:rPr sz="3200" b="1">
                <a:solidFill>
                  <a:srgbClr val="12181F"/>
                </a:solidFill>
                <a:latin typeface="IBM Plex Sans"/>
              </a:rPr>
              <a:t>Six checkpoints of design, one working loop</a:t>
            </a:r>
          </a:p>
        </p:txBody>
      </p:sp>
      <p:sp>
        <p:nvSpPr>
          <p:cNvPr id="5" name="TextBox 4"/>
          <p:cNvSpPr txBox="1"/>
          <p:nvPr/>
        </p:nvSpPr>
        <p:spPr>
          <a:xfrm>
            <a:off x="685800" y="1874519"/>
            <a:ext cx="5120640" cy="365760"/>
          </a:xfrm>
          <a:prstGeom prst="rect">
            <a:avLst/>
          </a:prstGeom>
          <a:noFill/>
        </p:spPr>
        <p:txBody>
          <a:bodyPr wrap="square" anchor="t" lIns="0" rIns="0" tIns="0" bIns="0">
            <a:spAutoFit/>
          </a:bodyPr>
          <a:lstStyle/>
          <a:p>
            <a:r>
              <a:rPr sz="1150" b="1" spc="60">
                <a:solidFill>
                  <a:srgbClr val="8592A0"/>
                </a:solidFill>
                <a:latin typeface="IBM Plex Mono"/>
              </a:rPr>
              <a:t>DESIGNED (CH. 1–6)</a:t>
            </a:r>
          </a:p>
        </p:txBody>
      </p:sp>
      <p:sp>
        <p:nvSpPr>
          <p:cNvPr id="6" name="TextBox 5"/>
          <p:cNvSpPr txBox="1"/>
          <p:nvPr/>
        </p:nvSpPr>
        <p:spPr>
          <a:xfrm>
            <a:off x="6035040" y="1874519"/>
            <a:ext cx="5120640" cy="365760"/>
          </a:xfrm>
          <a:prstGeom prst="rect">
            <a:avLst/>
          </a:prstGeom>
          <a:noFill/>
        </p:spPr>
        <p:txBody>
          <a:bodyPr wrap="square" anchor="t" lIns="0" rIns="0" tIns="0" bIns="0">
            <a:spAutoFit/>
          </a:bodyPr>
          <a:lstStyle/>
          <a:p>
            <a:r>
              <a:rPr sz="1150" b="1" spc="60">
                <a:solidFill>
                  <a:srgbClr val="8592A0"/>
                </a:solidFill>
                <a:latin typeface="IBM Plex Mono"/>
              </a:rPr>
              <a:t>BUILT</a:t>
            </a:r>
          </a:p>
        </p:txBody>
      </p:sp>
      <p:cxnSp>
        <p:nvCxnSpPr>
          <p:cNvPr id="7" name="Connector 6"/>
          <p:cNvCxnSpPr/>
          <p:nvPr/>
        </p:nvCxnSpPr>
        <p:spPr>
          <a:xfrm>
            <a:off x="685800" y="2258567"/>
            <a:ext cx="10469880" cy="0"/>
          </a:xfrm>
          <a:prstGeom prst="line">
            <a:avLst/>
          </a:prstGeom>
          <a:ln w="12700">
            <a:solidFill>
              <a:srgbClr val="CBD4D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85800" y="2990087"/>
            <a:ext cx="10469880" cy="0"/>
          </a:xfrm>
          <a:prstGeom prst="line">
            <a:avLst/>
          </a:prstGeom>
          <a:ln w="12700">
            <a:solidFill>
              <a:srgbClr val="CBD4D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496311"/>
            <a:ext cx="5120640" cy="566928"/>
          </a:xfrm>
          <a:prstGeom prst="rect">
            <a:avLst/>
          </a:prstGeom>
          <a:noFill/>
        </p:spPr>
        <p:txBody>
          <a:bodyPr wrap="square" anchor="ctr" lIns="0" rIns="0" tIns="0" bIns="0">
            <a:spAutoFit/>
          </a:bodyPr>
          <a:lstStyle/>
          <a:p>
            <a:r>
              <a:rPr sz="1400" b="0">
                <a:solidFill>
                  <a:srgbClr val="12181F"/>
                </a:solidFill>
                <a:latin typeface="IBM Plex Sans"/>
              </a:rPr>
              <a:t>3 specialized agents</a:t>
            </a:r>
          </a:p>
        </p:txBody>
      </p:sp>
      <p:sp>
        <p:nvSpPr>
          <p:cNvPr id="10" name="TextBox 9"/>
          <p:cNvSpPr txBox="1"/>
          <p:nvPr/>
        </p:nvSpPr>
        <p:spPr>
          <a:xfrm>
            <a:off x="6035040" y="2496311"/>
            <a:ext cx="5120640" cy="566928"/>
          </a:xfrm>
          <a:prstGeom prst="rect">
            <a:avLst/>
          </a:prstGeom>
          <a:noFill/>
        </p:spPr>
        <p:txBody>
          <a:bodyPr wrap="square" anchor="ctr" lIns="0" rIns="0" tIns="0" bIns="0">
            <a:spAutoFit/>
          </a:bodyPr>
          <a:lstStyle/>
          <a:p>
            <a:r>
              <a:rPr sz="1400" b="0">
                <a:solidFill>
                  <a:srgbClr val="4A5668"/>
                </a:solidFill>
                <a:latin typeface="IBM Plex Sans"/>
              </a:rPr>
              <a:t>1 agent, ReAct tool-calling loop</a:t>
            </a:r>
          </a:p>
        </p:txBody>
      </p:sp>
      <p:cxnSp>
        <p:nvCxnSpPr>
          <p:cNvPr id="11" name="Connector 10"/>
          <p:cNvCxnSpPr/>
          <p:nvPr/>
        </p:nvCxnSpPr>
        <p:spPr>
          <a:xfrm>
            <a:off x="685800" y="3557015"/>
            <a:ext cx="10469880" cy="0"/>
          </a:xfrm>
          <a:prstGeom prst="line">
            <a:avLst/>
          </a:prstGeom>
          <a:ln w="12700">
            <a:solidFill>
              <a:srgbClr val="CBD4D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063239"/>
            <a:ext cx="5120640" cy="566928"/>
          </a:xfrm>
          <a:prstGeom prst="rect">
            <a:avLst/>
          </a:prstGeom>
          <a:noFill/>
        </p:spPr>
        <p:txBody>
          <a:bodyPr wrap="square" anchor="ctr" lIns="0" rIns="0" tIns="0" bIns="0">
            <a:spAutoFit/>
          </a:bodyPr>
          <a:lstStyle/>
          <a:p>
            <a:r>
              <a:rPr sz="1400" b="0">
                <a:solidFill>
                  <a:srgbClr val="12181F"/>
                </a:solidFill>
                <a:latin typeface="IBM Plex Sans"/>
              </a:rPr>
              <a:t>Duffel for flights / hotels / cars</a:t>
            </a:r>
          </a:p>
        </p:txBody>
      </p:sp>
      <p:sp>
        <p:nvSpPr>
          <p:cNvPr id="13" name="TextBox 12"/>
          <p:cNvSpPr txBox="1"/>
          <p:nvPr/>
        </p:nvSpPr>
        <p:spPr>
          <a:xfrm>
            <a:off x="6035040" y="3063239"/>
            <a:ext cx="5120640" cy="566928"/>
          </a:xfrm>
          <a:prstGeom prst="rect">
            <a:avLst/>
          </a:prstGeom>
          <a:noFill/>
        </p:spPr>
        <p:txBody>
          <a:bodyPr wrap="square" anchor="ctr" lIns="0" rIns="0" tIns="0" bIns="0">
            <a:spAutoFit/>
          </a:bodyPr>
          <a:lstStyle/>
          <a:p>
            <a:r>
              <a:rPr sz="1400" b="0">
                <a:solidFill>
                  <a:srgbClr val="4A5668"/>
                </a:solidFill>
                <a:latin typeface="IBM Plex Sans"/>
              </a:rPr>
              <a:t>removed — TBD, free API not yet chosen</a:t>
            </a:r>
          </a:p>
        </p:txBody>
      </p:sp>
      <p:cxnSp>
        <p:nvCxnSpPr>
          <p:cNvPr id="14" name="Connector 13"/>
          <p:cNvCxnSpPr/>
          <p:nvPr/>
        </p:nvCxnSpPr>
        <p:spPr>
          <a:xfrm>
            <a:off x="685800" y="4123943"/>
            <a:ext cx="10469880" cy="0"/>
          </a:xfrm>
          <a:prstGeom prst="line">
            <a:avLst/>
          </a:prstGeom>
          <a:ln w="12700">
            <a:solidFill>
              <a:srgbClr val="CBD4D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630167"/>
            <a:ext cx="5120640" cy="566928"/>
          </a:xfrm>
          <a:prstGeom prst="rect">
            <a:avLst/>
          </a:prstGeom>
          <a:noFill/>
        </p:spPr>
        <p:txBody>
          <a:bodyPr wrap="square" anchor="ctr" lIns="0" rIns="0" tIns="0" bIns="0">
            <a:spAutoFit/>
          </a:bodyPr>
          <a:lstStyle/>
          <a:p>
            <a:r>
              <a:rPr sz="1400" b="0">
                <a:solidFill>
                  <a:srgbClr val="12181F"/>
                </a:solidFill>
                <a:latin typeface="IBM Plex Sans"/>
              </a:rPr>
              <a:t>Tree-of-Thought, DFS, 20-deep</a:t>
            </a:r>
          </a:p>
        </p:txBody>
      </p:sp>
      <p:sp>
        <p:nvSpPr>
          <p:cNvPr id="16" name="TextBox 15"/>
          <p:cNvSpPr txBox="1"/>
          <p:nvPr/>
        </p:nvSpPr>
        <p:spPr>
          <a:xfrm>
            <a:off x="6035040" y="3630167"/>
            <a:ext cx="5120640" cy="566928"/>
          </a:xfrm>
          <a:prstGeom prst="rect">
            <a:avLst/>
          </a:prstGeom>
          <a:noFill/>
        </p:spPr>
        <p:txBody>
          <a:bodyPr wrap="square" anchor="ctr" lIns="0" rIns="0" tIns="0" bIns="0">
            <a:spAutoFit/>
          </a:bodyPr>
          <a:lstStyle/>
          <a:p>
            <a:r>
              <a:rPr sz="1400" b="0">
                <a:solidFill>
                  <a:srgbClr val="4A5668"/>
                </a:solidFill>
                <a:latin typeface="IBM Plex Sans"/>
              </a:rPr>
              <a:t>Lite: 1 layer, destination branching only</a:t>
            </a:r>
          </a:p>
        </p:txBody>
      </p:sp>
      <p:cxnSp>
        <p:nvCxnSpPr>
          <p:cNvPr id="17" name="Connector 16"/>
          <p:cNvCxnSpPr/>
          <p:nvPr/>
        </p:nvCxnSpPr>
        <p:spPr>
          <a:xfrm>
            <a:off x="685800" y="4690871"/>
            <a:ext cx="10469880" cy="0"/>
          </a:xfrm>
          <a:prstGeom prst="line">
            <a:avLst/>
          </a:prstGeom>
          <a:ln w="12700">
            <a:solidFill>
              <a:srgbClr val="CBD4D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4197095"/>
            <a:ext cx="5120640" cy="566928"/>
          </a:xfrm>
          <a:prstGeom prst="rect">
            <a:avLst/>
          </a:prstGeom>
          <a:noFill/>
        </p:spPr>
        <p:txBody>
          <a:bodyPr wrap="square" anchor="ctr" lIns="0" rIns="0" tIns="0" bIns="0">
            <a:spAutoFit/>
          </a:bodyPr>
          <a:lstStyle/>
          <a:p>
            <a:r>
              <a:rPr sz="1400" b="0">
                <a:solidFill>
                  <a:srgbClr val="12181F"/>
                </a:solidFill>
                <a:latin typeface="IBM Plex Sans"/>
              </a:rPr>
              <a:t>Critic / verification agent</a:t>
            </a:r>
          </a:p>
        </p:txBody>
      </p:sp>
      <p:sp>
        <p:nvSpPr>
          <p:cNvPr id="19" name="TextBox 18"/>
          <p:cNvSpPr txBox="1"/>
          <p:nvPr/>
        </p:nvSpPr>
        <p:spPr>
          <a:xfrm>
            <a:off x="6035040" y="4197095"/>
            <a:ext cx="5120640" cy="566928"/>
          </a:xfrm>
          <a:prstGeom prst="rect">
            <a:avLst/>
          </a:prstGeom>
          <a:noFill/>
        </p:spPr>
        <p:txBody>
          <a:bodyPr wrap="square" anchor="ctr" lIns="0" rIns="0" tIns="0" bIns="0">
            <a:spAutoFit/>
          </a:bodyPr>
          <a:lstStyle/>
          <a:p>
            <a:r>
              <a:rPr sz="1400" b="0">
                <a:solidFill>
                  <a:srgbClr val="4A5668"/>
                </a:solidFill>
                <a:latin typeface="IBM Plex Sans"/>
              </a:rPr>
              <a:t>Non-blocking critic pass, same model</a:t>
            </a:r>
          </a:p>
        </p:txBody>
      </p:sp>
      <p:cxnSp>
        <p:nvCxnSpPr>
          <p:cNvPr id="20" name="Connector 19"/>
          <p:cNvCxnSpPr/>
          <p:nvPr/>
        </p:nvCxnSpPr>
        <p:spPr>
          <a:xfrm>
            <a:off x="685800" y="5257799"/>
            <a:ext cx="10469880" cy="0"/>
          </a:xfrm>
          <a:prstGeom prst="line">
            <a:avLst/>
          </a:prstGeom>
          <a:ln w="12700">
            <a:solidFill>
              <a:srgbClr val="CBD4D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4764023"/>
            <a:ext cx="5120640" cy="566928"/>
          </a:xfrm>
          <a:prstGeom prst="rect">
            <a:avLst/>
          </a:prstGeom>
          <a:noFill/>
        </p:spPr>
        <p:txBody>
          <a:bodyPr wrap="square" anchor="ctr" lIns="0" rIns="0" tIns="0" bIns="0">
            <a:spAutoFit/>
          </a:bodyPr>
          <a:lstStyle/>
          <a:p>
            <a:r>
              <a:rPr sz="1400" b="0">
                <a:solidFill>
                  <a:srgbClr val="12181F"/>
                </a:solidFill>
                <a:latin typeface="IBM Plex Sans"/>
              </a:rPr>
              <a:t>Tavily for web/forum grounding</a:t>
            </a:r>
          </a:p>
        </p:txBody>
      </p:sp>
      <p:sp>
        <p:nvSpPr>
          <p:cNvPr id="22" name="TextBox 21"/>
          <p:cNvSpPr txBox="1"/>
          <p:nvPr/>
        </p:nvSpPr>
        <p:spPr>
          <a:xfrm>
            <a:off x="6035040" y="4764023"/>
            <a:ext cx="5120640" cy="566928"/>
          </a:xfrm>
          <a:prstGeom prst="rect">
            <a:avLst/>
          </a:prstGeom>
          <a:noFill/>
        </p:spPr>
        <p:txBody>
          <a:bodyPr wrap="square" anchor="ctr" lIns="0" rIns="0" tIns="0" bIns="0">
            <a:spAutoFit/>
          </a:bodyPr>
          <a:lstStyle/>
          <a:p>
            <a:r>
              <a:rPr sz="1400" b="0">
                <a:solidFill>
                  <a:srgbClr val="2F7D5C"/>
                </a:solidFill>
                <a:latin typeface="IBM Plex Sans"/>
              </a:rPr>
              <a:t>kept as designed</a:t>
            </a:r>
          </a:p>
        </p:txBody>
      </p:sp>
      <p:sp>
        <p:nvSpPr>
          <p:cNvPr id="23" name="TextBox 22"/>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9144000" cy="365760"/>
          </a:xfrm>
          <a:prstGeom prst="rect">
            <a:avLst/>
          </a:prstGeom>
          <a:noFill/>
        </p:spPr>
        <p:txBody>
          <a:bodyPr wrap="square" anchor="t" lIns="0" rIns="0" tIns="0" bIns="0">
            <a:spAutoFit/>
          </a:bodyPr>
          <a:lstStyle/>
          <a:p>
            <a:r>
              <a:rPr sz="1300" b="1">
                <a:solidFill>
                  <a:srgbClr val="1D56A0"/>
                </a:solidFill>
                <a:latin typeface="IBM Plex Mono"/>
              </a:rPr>
              <a:t>—  </a:t>
            </a:r>
            <a:r>
              <a:rPr sz="1300" b="1" spc="120">
                <a:solidFill>
                  <a:srgbClr val="1D56A0"/>
                </a:solidFill>
                <a:latin typeface="IBM Plex Mono"/>
              </a:rPr>
              <a:t>09 · WHAT'S NEXT</a:t>
            </a:r>
          </a:p>
        </p:txBody>
      </p:sp>
      <p:sp>
        <p:nvSpPr>
          <p:cNvPr id="4" name="TextBox 3"/>
          <p:cNvSpPr txBox="1"/>
          <p:nvPr/>
        </p:nvSpPr>
        <p:spPr>
          <a:xfrm>
            <a:off x="685800" y="1234440"/>
            <a:ext cx="9144000" cy="1005840"/>
          </a:xfrm>
          <a:prstGeom prst="rect">
            <a:avLst/>
          </a:prstGeom>
          <a:noFill/>
        </p:spPr>
        <p:txBody>
          <a:bodyPr wrap="square" anchor="t" lIns="0" rIns="0" tIns="0" bIns="0">
            <a:spAutoFit/>
          </a:bodyPr>
          <a:lstStyle/>
          <a:p>
            <a:r>
              <a:rPr sz="4000" b="1">
                <a:solidFill>
                  <a:srgbClr val="12181F"/>
                </a:solidFill>
                <a:latin typeface="IBM Plex Sans"/>
              </a:rPr>
              <a:t>Questions?</a:t>
            </a:r>
          </a:p>
        </p:txBody>
      </p:sp>
      <p:sp>
        <p:nvSpPr>
          <p:cNvPr id="5" name="TextBox 4"/>
          <p:cNvSpPr txBox="1"/>
          <p:nvPr/>
        </p:nvSpPr>
        <p:spPr>
          <a:xfrm>
            <a:off x="685800" y="2468880"/>
            <a:ext cx="5120640" cy="365760"/>
          </a:xfrm>
          <a:prstGeom prst="rect">
            <a:avLst/>
          </a:prstGeom>
          <a:noFill/>
        </p:spPr>
        <p:txBody>
          <a:bodyPr wrap="square" anchor="t" lIns="0" rIns="0" tIns="0" bIns="0">
            <a:spAutoFit/>
          </a:bodyPr>
          <a:lstStyle/>
          <a:p>
            <a:r>
              <a:rPr sz="1150" b="1" spc="60">
                <a:solidFill>
                  <a:srgbClr val="8592A0"/>
                </a:solidFill>
                <a:latin typeface="IBM Plex Mono"/>
              </a:rPr>
              <a:t>NEXT STEPS</a:t>
            </a:r>
          </a:p>
        </p:txBody>
      </p:sp>
      <p:sp>
        <p:nvSpPr>
          <p:cNvPr id="6" name="TextBox 5"/>
          <p:cNvSpPr txBox="1"/>
          <p:nvPr/>
        </p:nvSpPr>
        <p:spPr>
          <a:xfrm>
            <a:off x="685800" y="2880360"/>
            <a:ext cx="5120640" cy="3200400"/>
          </a:xfrm>
          <a:prstGeom prst="rect">
            <a:avLst/>
          </a:prstGeom>
          <a:noFill/>
        </p:spPr>
        <p:txBody>
          <a:bodyPr wrap="square" anchor="t" lIns="0" rIns="0" tIns="0" bIns="0">
            <a:spAutoFit/>
          </a:bodyPr>
          <a:lstStyle/>
          <a:p>
            <a:pPr>
              <a:spcAft>
                <a:spcPts val="1440"/>
              </a:spcAft>
            </a:pPr>
            <a:r>
              <a:rPr sz="1300" b="0">
                <a:solidFill>
                  <a:srgbClr val="1D56A0"/>
                </a:solidFill>
                <a:latin typeface="IBM Plex Sans"/>
              </a:rPr>
              <a:t>●  </a:t>
            </a:r>
            <a:r>
              <a:rPr sz="1400" b="0">
                <a:solidFill>
                  <a:srgbClr val="4A5668"/>
                </a:solidFill>
                <a:latin typeface="IBM Plex Sans"/>
              </a:rPr>
              <a:t>Choose a free flights/hotels API</a:t>
            </a:r>
          </a:p>
          <a:p>
            <a:pPr>
              <a:spcAft>
                <a:spcPts val="1440"/>
              </a:spcAft>
            </a:pPr>
            <a:r>
              <a:rPr sz="1300" b="0">
                <a:solidFill>
                  <a:srgbClr val="1D56A0"/>
                </a:solidFill>
                <a:latin typeface="IBM Plex Sans"/>
              </a:rPr>
              <a:t>●  </a:t>
            </a:r>
            <a:r>
              <a:rPr sz="1400" b="0">
                <a:solidFill>
                  <a:srgbClr val="4A5668"/>
                </a:solidFill>
                <a:latin typeface="IBM Plex Sans"/>
              </a:rPr>
              <a:t>Split into the specialized-agent design</a:t>
            </a:r>
          </a:p>
          <a:p>
            <a:pPr>
              <a:spcAft>
                <a:spcPts val="1440"/>
              </a:spcAft>
            </a:pPr>
            <a:r>
              <a:rPr sz="1300" b="0">
                <a:solidFill>
                  <a:srgbClr val="1D56A0"/>
                </a:solidFill>
                <a:latin typeface="IBM Plex Sans"/>
              </a:rPr>
              <a:t>●  </a:t>
            </a:r>
            <a:r>
              <a:rPr sz="1400" b="0">
                <a:solidFill>
                  <a:srgbClr val="4A5668"/>
                </a:solidFill>
                <a:latin typeface="IBM Plex Sans"/>
              </a:rPr>
              <a:t>Deepen Tree-of-Thought to activity level</a:t>
            </a:r>
          </a:p>
        </p:txBody>
      </p:sp>
      <p:sp>
        <p:nvSpPr>
          <p:cNvPr id="7" name="TextBox 6"/>
          <p:cNvSpPr txBox="1"/>
          <p:nvPr/>
        </p:nvSpPr>
        <p:spPr>
          <a:xfrm>
            <a:off x="6309360" y="2468880"/>
            <a:ext cx="5120640" cy="365760"/>
          </a:xfrm>
          <a:prstGeom prst="rect">
            <a:avLst/>
          </a:prstGeom>
          <a:noFill/>
        </p:spPr>
        <p:txBody>
          <a:bodyPr wrap="square" anchor="t" lIns="0" rIns="0" tIns="0" bIns="0">
            <a:spAutoFit/>
          </a:bodyPr>
          <a:lstStyle/>
          <a:p>
            <a:r>
              <a:rPr sz="1150" b="1" spc="60">
                <a:solidFill>
                  <a:srgbClr val="8592A0"/>
                </a:solidFill>
                <a:latin typeface="IBM Plex Mono"/>
              </a:rPr>
              <a:t>REPOSITORY</a:t>
            </a:r>
          </a:p>
        </p:txBody>
      </p:sp>
      <p:sp>
        <p:nvSpPr>
          <p:cNvPr id="8" name="TextBox 7"/>
          <p:cNvSpPr txBox="1"/>
          <p:nvPr/>
        </p:nvSpPr>
        <p:spPr>
          <a:xfrm>
            <a:off x="6309360" y="2880360"/>
            <a:ext cx="5120640" cy="548640"/>
          </a:xfrm>
          <a:prstGeom prst="rect">
            <a:avLst/>
          </a:prstGeom>
          <a:noFill/>
        </p:spPr>
        <p:txBody>
          <a:bodyPr wrap="square" anchor="t" lIns="0" rIns="0" tIns="0" bIns="0">
            <a:spAutoFit/>
          </a:bodyPr>
          <a:lstStyle/>
          <a:p>
            <a:r>
              <a:rPr sz="1400" b="0">
                <a:solidFill>
                  <a:srgbClr val="4A5668"/>
                </a:solidFill>
                <a:latin typeface="IBM Plex Mono"/>
              </a:rPr>
              <a:t>github.com/&lt;add link once published&gt;</a:t>
            </a:r>
          </a:p>
        </p:txBody>
      </p:sp>
      <p:sp>
        <p:nvSpPr>
          <p:cNvPr id="9" name="Oval 8"/>
          <p:cNvSpPr/>
          <p:nvPr/>
        </p:nvSpPr>
        <p:spPr>
          <a:xfrm>
            <a:off x="672084" y="5079492"/>
            <a:ext cx="82296" cy="82296"/>
          </a:xfrm>
          <a:prstGeom prst="ellipse">
            <a:avLst/>
          </a:prstGeom>
          <a:solidFill>
            <a:srgbClr val="1D56A0"/>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713232" y="5120640"/>
            <a:ext cx="1402080" cy="0"/>
          </a:xfrm>
          <a:prstGeom prst="line">
            <a:avLst/>
          </a:prstGeom>
          <a:ln w="17780">
            <a:solidFill>
              <a:srgbClr val="1D56A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074164" y="5079492"/>
            <a:ext cx="82296" cy="82296"/>
          </a:xfrm>
          <a:prstGeom prst="ellipse">
            <a:avLst/>
          </a:prstGeom>
          <a:solidFill>
            <a:srgbClr val="1D56A0"/>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115312" y="5120640"/>
            <a:ext cx="1402080" cy="0"/>
          </a:xfrm>
          <a:prstGeom prst="line">
            <a:avLst/>
          </a:prstGeom>
          <a:ln w="17780">
            <a:solidFill>
              <a:srgbClr val="1D56A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476244" y="5079492"/>
            <a:ext cx="82296" cy="82296"/>
          </a:xfrm>
          <a:prstGeom prst="ellipse">
            <a:avLst/>
          </a:prstGeom>
          <a:solidFill>
            <a:srgbClr val="1D56A0"/>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517392" y="5120640"/>
            <a:ext cx="1402080" cy="0"/>
          </a:xfrm>
          <a:prstGeom prst="line">
            <a:avLst/>
          </a:prstGeom>
          <a:ln w="17780">
            <a:solidFill>
              <a:srgbClr val="1D56A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878324" y="5079492"/>
            <a:ext cx="82296" cy="82296"/>
          </a:xfrm>
          <a:prstGeom prst="ellipse">
            <a:avLst/>
          </a:prstGeom>
          <a:solidFill>
            <a:srgbClr val="1D56A0"/>
          </a:solidFill>
          <a:ln w="17780">
            <a:solidFill>
              <a:srgbClr val="1D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46520"/>
            <a:ext cx="2743200" cy="320040"/>
          </a:xfrm>
          <a:prstGeom prst="rect">
            <a:avLst/>
          </a:prstGeom>
          <a:noFill/>
        </p:spPr>
        <p:txBody>
          <a:bodyPr wrap="square" anchor="t" lIns="0" rIns="0" tIns="0" bIns="0">
            <a:spAutoFit/>
          </a:bodyPr>
          <a:lstStyle/>
          <a:p>
            <a:r>
              <a:rPr sz="1100" b="0">
                <a:solidFill>
                  <a:srgbClr val="8592A0"/>
                </a:solidFill>
                <a:latin typeface="IBM Plex Mono"/>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